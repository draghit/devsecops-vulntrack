
<file path=[Content_Types].xml><?xml version="1.0" encoding="utf-8"?>
<Types xmlns="http://schemas.openxmlformats.org/package/2006/content-types">
  <Override PartName="/ppt/slides/slide10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3997FE0-5218-4673-B70E-E6B3B5177593}"/>
              </a:ext>
            </a:extLst>
          </p:cNvPr>
          <p:cNvSpPr/>
          <p:nvPr/>
        </p:nvSpPr>
        <p:spPr>
          <a:xfrm>
            <a:off x="8305800" y="1219200"/>
            <a:ext cx="3200400" cy="32004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4EF24EB-038E-4554-9B45-37311F98AF32}"/>
              </a:ext>
            </a:extLst>
          </p:cNvPr>
          <p:cNvSpPr/>
          <p:nvPr/>
        </p:nvSpPr>
        <p:spPr>
          <a:xfrm>
            <a:off x="8686800" y="1600200"/>
            <a:ext cx="2438400" cy="2438400"/>
          </a:xfrm>
          <a:prstGeom prst="hexagon">
            <a:avLst/>
          </a:prstGeom>
          <a:solidFill>
            <a:srgbClr val="E548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9FA11D9-F651-4559-B7F4-77E8F093075D}"/>
              </a:ext>
            </a:extLst>
          </p:cNvPr>
          <p:cNvSpPr/>
          <p:nvPr/>
        </p:nvSpPr>
        <p:spPr>
          <a:xfrm>
            <a:off x="10858500" y="1428750"/>
            <a:ext cx="342900" cy="342900"/>
          </a:xfrm>
          <a:prstGeom prst="ellipse">
            <a:avLst/>
          </a:prstGeom>
          <a:solidFill>
            <a:srgbClr val="57D9A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AB13799-465C-4DE6-AF62-095A7C29C7E6}"/>
              </a:ext>
            </a:extLst>
          </p:cNvPr>
          <p:cNvSpPr txBox="1"/>
          <p:nvPr/>
        </p:nvSpPr>
        <p:spPr>
          <a:xfrm>
            <a:off x="762000" y="609600"/>
            <a:ext cx="666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8B949E"/>
                </a:solidFill>
              </a:rPr>
              <a:t>DEVOPS CAPSTONE PROJECT — 3RD YEAR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804CC9-6D26-4C2C-9E5C-BB2626A595F4}"/>
              </a:ext>
            </a:extLst>
          </p:cNvPr>
          <p:cNvSpPr txBox="1"/>
          <p:nvPr/>
        </p:nvSpPr>
        <p:spPr>
          <a:xfrm>
            <a:off x="762000" y="1428750"/>
            <a:ext cx="6096000" cy="1158240"/>
          </a:xfrm>
        </p:spPr>
        <p:txBody>
          <a:bodyPr wrap="square" rtlCol="0" lIns="0" tIns="0" rIns="0" bIns="0" anchor="t"/>
          <a:lstStyle/>
          <a:p>
            <a:pPr algn="l"/>
            <a:r>
              <a:rPr sz="7600" b="1">
                <a:solidFill>
                  <a:srgbClr val="E6EDF3"/>
                </a:solidFill>
              </a:rPr>
              <a:t>VulnTrack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B20EC3-A229-4A31-8126-E3BD2B05110E}"/>
              </a:ext>
            </a:extLst>
          </p:cNvPr>
          <p:cNvSpPr txBox="1"/>
          <p:nvPr/>
        </p:nvSpPr>
        <p:spPr>
          <a:xfrm>
            <a:off x="762000" y="2762250"/>
            <a:ext cx="6286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>
                <a:solidFill>
                  <a:srgbClr val="C9D1D9"/>
                </a:solidFill>
              </a:rPr>
              <a:t>Vulnerability Management Platform with End-to-End DevOps Automation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EBB807F-556F-4661-BC0A-A4BC92B9B166}"/>
              </a:ext>
            </a:extLst>
          </p:cNvPr>
          <p:cNvSpPr txBox="1"/>
          <p:nvPr/>
        </p:nvSpPr>
        <p:spPr>
          <a:xfrm>
            <a:off x="762000" y="3733800"/>
            <a:ext cx="3810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5484D"/>
                </a:solidFill>
              </a:rPr>
              <a:t>8 phases · 1 pipeline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EFDD6D0-398E-4450-8924-063979A6ED64}"/>
              </a:ext>
            </a:extLst>
          </p:cNvPr>
          <p:cNvSpPr/>
          <p:nvPr/>
        </p:nvSpPr>
        <p:spPr>
          <a:xfrm>
            <a:off x="762000" y="5143500"/>
            <a:ext cx="32385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A695190-4D12-4B13-AFCC-E8445E094A46}"/>
              </a:ext>
            </a:extLst>
          </p:cNvPr>
          <p:cNvSpPr/>
          <p:nvPr/>
        </p:nvSpPr>
        <p:spPr>
          <a:xfrm>
            <a:off x="4381500" y="5143500"/>
            <a:ext cx="32385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BDA2564-9801-40CA-A0A7-90D136D5FD60}"/>
              </a:ext>
            </a:extLst>
          </p:cNvPr>
          <p:cNvSpPr/>
          <p:nvPr/>
        </p:nvSpPr>
        <p:spPr>
          <a:xfrm>
            <a:off x="8001000" y="5143500"/>
            <a:ext cx="3429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D9C9DB3-F432-40BE-BB44-BB421727A13B}"/>
              </a:ext>
            </a:extLst>
          </p:cNvPr>
          <p:cNvSpPr txBox="1"/>
          <p:nvPr/>
        </p:nvSpPr>
        <p:spPr>
          <a:xfrm>
            <a:off x="990600" y="5295900"/>
            <a:ext cx="27813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React 18 + Spring Boot 3.3</a:t>
            </a:r>
          </a:p>
          <a:p>
            <a:pPr algn="l">
              <a:spcBef>
                <a:spcPts val="600"/>
              </a:spcBef>
            </a:pPr>
            <a:r>
              <a:rPr sz="1250">
                <a:solidFill>
                  <a:srgbClr val="8B949E"/>
                </a:solidFill>
              </a:rPr>
              <a:t>TypeScript SPA · REST API · PostgreSQL 16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D61EC45-43E5-410F-8115-71D4782AAE96}"/>
              </a:ext>
            </a:extLst>
          </p:cNvPr>
          <p:cNvSpPr txBox="1"/>
          <p:nvPr/>
        </p:nvSpPr>
        <p:spPr>
          <a:xfrm>
            <a:off x="4610100" y="5295900"/>
            <a:ext cx="27813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Docker · GitHub Actions</a:t>
            </a:r>
          </a:p>
          <a:p>
            <a:pPr algn="l">
              <a:spcBef>
                <a:spcPts val="600"/>
              </a:spcBef>
            </a:pPr>
            <a:r>
              <a:rPr sz="1250">
                <a:solidFill>
                  <a:srgbClr val="8B949E"/>
                </a:solidFill>
              </a:rPr>
              <a:t>Trivy + GitLeaks gates · GHCR images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EE365F1-8EA7-4B53-BAB7-D62C8E5A86F6}"/>
              </a:ext>
            </a:extLst>
          </p:cNvPr>
          <p:cNvSpPr txBox="1"/>
          <p:nvPr/>
        </p:nvSpPr>
        <p:spPr>
          <a:xfrm>
            <a:off x="8229600" y="5295900"/>
            <a:ext cx="29718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Terraform · Helm · HPA · Ingress</a:t>
            </a:r>
          </a:p>
          <a:p>
            <a:pPr algn="l">
              <a:spcBef>
                <a:spcPts val="600"/>
              </a:spcBef>
            </a:pPr>
            <a:r>
              <a:rPr sz="1250">
                <a:solidFill>
                  <a:srgbClr val="8B949E"/>
                </a:solidFill>
              </a:rPr>
              <a:t>Prometheus + Grafana observability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374AC89-AC75-4A8A-9A7E-54B083092B67}"/>
              </a:ext>
            </a:extLst>
          </p:cNvPr>
          <p:cNvSpPr txBox="1"/>
          <p:nvPr/>
        </p:nvSpPr>
        <p:spPr>
          <a:xfrm>
            <a:off x="762000" y="640080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49E"/>
                </a:solidFill>
              </a:rPr>
              <a:t>October 2026 · Built for the capstone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ECF0025-DE6A-40FF-A388-5A3F6F12B270}"/>
              </a:ext>
            </a:extLst>
          </p:cNvPr>
          <p:cNvSpPr/>
          <p:nvPr/>
        </p:nvSpPr>
        <p:spPr>
          <a:xfrm>
            <a:off x="762000" y="1524000"/>
            <a:ext cx="5143500" cy="36195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E548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B535C1C-66EF-4D36-9C09-09BBBBD76631}"/>
              </a:ext>
            </a:extLst>
          </p:cNvPr>
          <p:cNvSpPr/>
          <p:nvPr/>
        </p:nvSpPr>
        <p:spPr>
          <a:xfrm>
            <a:off x="6286500" y="1524000"/>
            <a:ext cx="5143500" cy="36195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7D9A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BCC1B89-60F0-46B6-87F9-0D84061502F6}"/>
              </a:ext>
            </a:extLst>
          </p:cNvPr>
          <p:cNvSpPr txBox="1"/>
          <p:nvPr/>
        </p:nvSpPr>
        <p:spPr>
          <a:xfrm>
            <a:off x="762000" y="53340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01 — PROBLEM STATEMENT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916BDD2-A1EC-4C24-8E0A-FC588F078649}"/>
              </a:ext>
            </a:extLst>
          </p:cNvPr>
          <p:cNvSpPr txBox="1"/>
          <p:nvPr/>
        </p:nvSpPr>
        <p:spPr>
          <a:xfrm>
            <a:off x="762000" y="800100"/>
            <a:ext cx="10668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</a:rPr>
              <a:t>Critical findings get lost without a system of record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DF9E193-FD33-4A32-A617-B14554A2E9B9}"/>
              </a:ext>
            </a:extLst>
          </p:cNvPr>
          <p:cNvSpPr txBox="1"/>
          <p:nvPr/>
        </p:nvSpPr>
        <p:spPr>
          <a:xfrm>
            <a:off x="1066800" y="1809750"/>
            <a:ext cx="45339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5484D"/>
                </a:solidFill>
              </a:rPr>
              <a:t>Without VulnTrack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EBE7607-C46E-4830-83AB-8FD50FE004E7}"/>
              </a:ext>
            </a:extLst>
          </p:cNvPr>
          <p:cNvSpPr txBox="1"/>
          <p:nvPr/>
        </p:nvSpPr>
        <p:spPr>
          <a:xfrm>
            <a:off x="1066800" y="2209800"/>
            <a:ext cx="4533900" cy="1809750"/>
          </a:xfrm>
        </p:spPr>
        <p:txBody>
          <a:bodyPr wrap="square" rtlCol="0" lIns="0" tIns="0" rIns="0" bIns="0" anchor="t"/>
          <a:lstStyle/>
          <a:p>
            <a:pPr marL="228600" indent="-228600" algn="l">
              <a:spcAft>
                <a:spcPts val="1000"/>
              </a:spcAft>
              <a:buChar char="•"/>
            </a:pPr>
            <a:r>
              <a:rPr sz="1400">
                <a:solidFill>
                  <a:srgbClr val="C9D1D9"/>
                </a:solidFill>
              </a:rPr>
              <a:t>Findings scattered across spreadsheets and inboxes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>
                <a:solidFill>
                  <a:srgbClr val="C9D1D9"/>
                </a:solidFill>
              </a:rPr>
              <a:t>No severity triage — CRITICAL bugs buried in noise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>
                <a:solidFill>
                  <a:srgbClr val="C9D1D9"/>
                </a:solidFill>
              </a:rPr>
              <a:t>Remediation has no owner, no state, no audit trail</a:t>
            </a:r>
          </a:p>
          <a:p>
            <a:pPr algn="l"/>
            <a:r>
              <a:rPr sz="1400">
                <a:solidFill>
                  <a:srgbClr val="C9D1D9"/>
                </a:solidFill>
              </a:rPr>
              <a:t>Every audit becomes a manual archaeology project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80F429C-5412-48F6-B55F-0D2E2B0621E3}"/>
              </a:ext>
            </a:extLst>
          </p:cNvPr>
          <p:cNvSpPr txBox="1"/>
          <p:nvPr/>
        </p:nvSpPr>
        <p:spPr>
          <a:xfrm>
            <a:off x="6591300" y="1809750"/>
            <a:ext cx="45339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57D9A3"/>
                </a:solidFill>
              </a:rPr>
              <a:t>With VulnTrack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EFB4F25-4086-4077-85A6-F42F206D5B2D}"/>
              </a:ext>
            </a:extLst>
          </p:cNvPr>
          <p:cNvSpPr txBox="1"/>
          <p:nvPr/>
        </p:nvSpPr>
        <p:spPr>
          <a:xfrm>
            <a:off x="6591300" y="2209800"/>
            <a:ext cx="4533900" cy="1809750"/>
          </a:xfrm>
        </p:spPr>
        <p:txBody>
          <a:bodyPr wrap="square" rtlCol="0" lIns="0" tIns="0" rIns="0" bIns="0" anchor="t"/>
          <a:lstStyle/>
          <a:p>
            <a:pPr marL="228600" indent="-228600" algn="l">
              <a:spcAft>
                <a:spcPts val="1000"/>
              </a:spcAft>
              <a:buChar char="•"/>
            </a:pPr>
            <a:r>
              <a:rPr sz="1400">
                <a:solidFill>
                  <a:srgbClr val="C9D1D9"/>
                </a:solidFill>
              </a:rPr>
              <a:t>Single source of truth for assets and findings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>
                <a:solidFill>
                  <a:srgbClr val="C9D1D9"/>
                </a:solidFill>
              </a:rPr>
              <a:t>Severity-first triage: LOW → MEDIUM → HIGH → CRITICAL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>
                <a:solidFill>
                  <a:srgbClr val="C9D1D9"/>
                </a:solidFill>
              </a:rPr>
              <a:t>OPEN → IN_PROGRESS → FIXED lifecycle with RBAC owners</a:t>
            </a:r>
          </a:p>
          <a:p>
            <a:pPr algn="l"/>
            <a:r>
              <a:rPr sz="1400">
                <a:solidFill>
                  <a:srgbClr val="C9D1D9"/>
                </a:solidFill>
              </a:rPr>
              <a:t>Dashboard KPIs give instant security posture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726A4C1-EF7F-4852-A745-C67198090822}"/>
              </a:ext>
            </a:extLst>
          </p:cNvPr>
          <p:cNvSpPr/>
          <p:nvPr/>
        </p:nvSpPr>
        <p:spPr>
          <a:xfrm>
            <a:off x="762000" y="5448300"/>
            <a:ext cx="10668000" cy="8001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C1A1FAC-C7DE-497F-8DE9-2820A6C01098}"/>
              </a:ext>
            </a:extLst>
          </p:cNvPr>
          <p:cNvSpPr txBox="1"/>
          <p:nvPr/>
        </p:nvSpPr>
        <p:spPr>
          <a:xfrm>
            <a:off x="1143000" y="5638800"/>
            <a:ext cx="285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E6EDF3"/>
                </a:solidFill>
              </a:rPr>
              <a:t>6 </a:t>
            </a:r>
            <a:r>
              <a:rPr sz="1400">
                <a:solidFill>
                  <a:srgbClr val="8B949E"/>
                </a:solidFill>
              </a:rPr>
              <a:t>asset types tracked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0CD252-9A56-424F-91FE-8B6CE18CA0AB}"/>
              </a:ext>
            </a:extLst>
          </p:cNvPr>
          <p:cNvSpPr txBox="1"/>
          <p:nvPr/>
        </p:nvSpPr>
        <p:spPr>
          <a:xfrm>
            <a:off x="4667250" y="5638800"/>
            <a:ext cx="285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E6EDF3"/>
                </a:solidFill>
              </a:rPr>
              <a:t>4 </a:t>
            </a:r>
            <a:r>
              <a:rPr sz="1400">
                <a:solidFill>
                  <a:srgbClr val="8B949E"/>
                </a:solidFill>
              </a:rPr>
              <a:t>severity levels enforced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C7ADD26-909A-4EA3-AD36-E4E7F1D18F43}"/>
              </a:ext>
            </a:extLst>
          </p:cNvPr>
          <p:cNvSpPr txBox="1"/>
          <p:nvPr/>
        </p:nvSpPr>
        <p:spPr>
          <a:xfrm>
            <a:off x="8191500" y="5638800"/>
            <a:ext cx="30480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E6EDF3"/>
                </a:solidFill>
              </a:rPr>
              <a:t>3 </a:t>
            </a:r>
            <a:r>
              <a:rPr sz="1400">
                <a:solidFill>
                  <a:srgbClr val="8B949E"/>
                </a:solidFill>
              </a:rPr>
              <a:t>lifecycle stages per finding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130A083-D704-4E18-95FA-7F660AF792AD}"/>
              </a:ext>
            </a:extLst>
          </p:cNvPr>
          <p:cNvSpPr/>
          <p:nvPr/>
        </p:nvSpPr>
        <p:spPr>
          <a:xfrm>
            <a:off x="762000" y="1619250"/>
            <a:ext cx="3238500" cy="31432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96EE4C7-8893-4873-93A7-105A5A112AF9}"/>
              </a:ext>
            </a:extLst>
          </p:cNvPr>
          <p:cNvSpPr/>
          <p:nvPr/>
        </p:nvSpPr>
        <p:spPr>
          <a:xfrm>
            <a:off x="4381500" y="1619250"/>
            <a:ext cx="3238500" cy="31432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5B21A55-2E22-47FB-BBFD-E71DC991B7D3}"/>
              </a:ext>
            </a:extLst>
          </p:cNvPr>
          <p:cNvSpPr/>
          <p:nvPr/>
        </p:nvSpPr>
        <p:spPr>
          <a:xfrm>
            <a:off x="8001000" y="1619250"/>
            <a:ext cx="3238500" cy="31432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CAFE8AB-7864-438C-9B48-3A503054A41B}"/>
              </a:ext>
            </a:extLst>
          </p:cNvPr>
          <p:cNvSpPr txBox="1"/>
          <p:nvPr/>
        </p:nvSpPr>
        <p:spPr>
          <a:xfrm>
            <a:off x="762000" y="53340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02 — SYSTEM ARCHITECTURE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88F9230-B496-4513-80DC-5D35F090AC02}"/>
              </a:ext>
            </a:extLst>
          </p:cNvPr>
          <p:cNvSpPr txBox="1"/>
          <p:nvPr/>
        </p:nvSpPr>
        <p:spPr>
          <a:xfrm>
            <a:off x="762000" y="800100"/>
            <a:ext cx="10668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</a:rPr>
              <a:t>One modular monolith, three decoupled tiers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853ED37-9817-4D0B-BF52-1FA754F50173}"/>
              </a:ext>
            </a:extLst>
          </p:cNvPr>
          <p:cNvSpPr txBox="1"/>
          <p:nvPr/>
        </p:nvSpPr>
        <p:spPr>
          <a:xfrm>
            <a:off x="990600" y="184785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5484D"/>
                </a:solidFill>
              </a:rPr>
              <a:t>REACT 18 + TYPESCRIPT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8C05541-332A-403C-860F-23AA58BEF326}"/>
              </a:ext>
            </a:extLst>
          </p:cNvPr>
          <p:cNvSpPr txBox="1"/>
          <p:nvPr/>
        </p:nvSpPr>
        <p:spPr>
          <a:xfrm>
            <a:off x="990600" y="2114550"/>
            <a:ext cx="27813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6EDF3"/>
                </a:solidFill>
              </a:rPr>
              <a:t>Frontend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6008F4D-F34E-43C6-B594-030A795983CB}"/>
              </a:ext>
            </a:extLst>
          </p:cNvPr>
          <p:cNvSpPr txBox="1"/>
          <p:nvPr/>
        </p:nvSpPr>
        <p:spPr>
          <a:xfrm>
            <a:off x="990600" y="2495550"/>
            <a:ext cx="2781300" cy="2095500"/>
          </a:xfrm>
        </p:spPr>
        <p:txBody>
          <a:bodyPr wrap="square" rtlCol="0" lIns="0" tIns="0" rIns="0" bIns="0" anchor="t"/>
          <a:lstStyle/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Vite SPA with axios client</a:t>
            </a: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HTTP Basic Auth sessions</a:t>
            </a: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Promise.all parallel dashboard fetch</a:t>
            </a:r>
          </a:p>
          <a:p>
            <a:pPr algn="l"/>
            <a:r>
              <a:rPr sz="1300">
                <a:solidFill>
                  <a:srgbClr val="C9D1D9"/>
                </a:solidFill>
              </a:rPr>
              <a:t>Inline validation from error envelope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10C52D1-86B0-4F2F-9F7E-02C7FBD15B22}"/>
              </a:ext>
            </a:extLst>
          </p:cNvPr>
          <p:cNvSpPr txBox="1"/>
          <p:nvPr/>
        </p:nvSpPr>
        <p:spPr>
          <a:xfrm>
            <a:off x="4610100" y="184785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5484D"/>
                </a:solidFill>
              </a:rPr>
              <a:t>SPRING BOOT 3.3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94CCFCF-8C53-4475-8FFC-177526AF0017}"/>
              </a:ext>
            </a:extLst>
          </p:cNvPr>
          <p:cNvSpPr txBox="1"/>
          <p:nvPr/>
        </p:nvSpPr>
        <p:spPr>
          <a:xfrm>
            <a:off x="4610100" y="2114550"/>
            <a:ext cx="27813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6EDF3"/>
                </a:solidFill>
              </a:rPr>
              <a:t>Backend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E14C525-0FF2-43D4-B6D8-208E96196F6A}"/>
              </a:ext>
            </a:extLst>
          </p:cNvPr>
          <p:cNvSpPr txBox="1"/>
          <p:nvPr/>
        </p:nvSpPr>
        <p:spPr>
          <a:xfrm>
            <a:off x="4610100" y="2495550"/>
            <a:ext cx="2781300" cy="2095500"/>
          </a:xfrm>
        </p:spPr>
        <p:txBody>
          <a:bodyPr wrap="square" rtlCol="0" lIns="0" tIns="0" rIns="0" bIns="0" anchor="t"/>
          <a:lstStyle/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REST API — DTO in, DTO out</a:t>
            </a: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Bean Validation on every input</a:t>
            </a: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RBAC: VIEWER vs ADMIN roles</a:t>
            </a:r>
          </a:p>
          <a:p>
            <a:pPr algn="l"/>
            <a:r>
              <a:rPr sz="1300">
                <a:solidFill>
                  <a:srgbClr val="C9D1D9"/>
                </a:solidFill>
              </a:rPr>
              <a:t>Global exception handler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637B5EA-3489-4A69-8C0F-9DCA2F2C58B7}"/>
              </a:ext>
            </a:extLst>
          </p:cNvPr>
          <p:cNvSpPr txBox="1"/>
          <p:nvPr/>
        </p:nvSpPr>
        <p:spPr>
          <a:xfrm>
            <a:off x="8229600" y="184785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5484D"/>
                </a:solidFill>
              </a:rPr>
              <a:t>POSTGRESQL 16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84DFA46-2C32-4D4A-97CF-5F6C9F31A416}"/>
              </a:ext>
            </a:extLst>
          </p:cNvPr>
          <p:cNvSpPr txBox="1"/>
          <p:nvPr/>
        </p:nvSpPr>
        <p:spPr>
          <a:xfrm>
            <a:off x="8229600" y="2114550"/>
            <a:ext cx="27813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6EDF3"/>
                </a:solidFill>
              </a:rPr>
              <a:t>Data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23E502D-FA77-4BAA-8D8A-4B399DBEC874}"/>
              </a:ext>
            </a:extLst>
          </p:cNvPr>
          <p:cNvSpPr txBox="1"/>
          <p:nvPr/>
        </p:nvSpPr>
        <p:spPr>
          <a:xfrm>
            <a:off x="8229600" y="2495550"/>
            <a:ext cx="2781300" cy="2095500"/>
          </a:xfrm>
        </p:spPr>
        <p:txBody>
          <a:bodyPr wrap="square" rtlCol="0" lIns="0" tIns="0" rIns="0" bIns="0" anchor="t"/>
          <a:lstStyle/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Flyway versioned migrations</a:t>
            </a: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BCrypt-hashed credentials</a:t>
            </a:r>
          </a:p>
          <a:p>
            <a:pPr marL="228600" indent="-228600" algn="l">
              <a:spcAft>
                <a:spcPts val="800"/>
              </a:spcAft>
              <a:buChar char="•"/>
            </a:pPr>
            <a:r>
              <a:rPr sz="1300">
                <a:solidFill>
                  <a:srgbClr val="C9D1D9"/>
                </a:solidFill>
              </a:rPr>
              <a:t>FK constraints + severity index</a:t>
            </a:r>
          </a:p>
          <a:p>
            <a:pPr algn="l"/>
            <a:r>
              <a:rPr sz="1300">
                <a:solidFill>
                  <a:srgbClr val="C9D1D9"/>
                </a:solidFill>
              </a:rPr>
              <a:t>H2 profile for local dev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8F68A0E-78EE-47A9-9D54-5932272C6B10}"/>
              </a:ext>
            </a:extLst>
          </p:cNvPr>
          <p:cNvSpPr/>
          <p:nvPr/>
        </p:nvSpPr>
        <p:spPr>
          <a:xfrm>
            <a:off x="762000" y="5143500"/>
            <a:ext cx="3429000" cy="76200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E6EDF3"/>
                </a:solidFill>
              </a:rPr>
              <a:t>React SPA · :5173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04410913-F34F-4673-8F29-B8A02BBB408D}"/>
              </a:ext>
            </a:extLst>
          </p:cNvPr>
          <p:cNvSpPr/>
          <p:nvPr/>
        </p:nvSpPr>
        <p:spPr>
          <a:xfrm>
            <a:off x="4381500" y="5143500"/>
            <a:ext cx="3429000" cy="76200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E6EDF3"/>
                </a:solidFill>
              </a:rPr>
              <a:t>Spring Boot API · :8080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19452BE-6E6E-49CC-81F4-ECE1E4E66A60}"/>
              </a:ext>
            </a:extLst>
          </p:cNvPr>
          <p:cNvSpPr/>
          <p:nvPr/>
        </p:nvSpPr>
        <p:spPr>
          <a:xfrm>
            <a:off x="8001000" y="5143500"/>
            <a:ext cx="3429000" cy="76200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E6EDF3"/>
                </a:solidFill>
              </a:rPr>
              <a:t>PostgreSQL · :5432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D62EB37-C934-48A3-9286-D530044339FD}"/>
              </a:ext>
            </a:extLst>
          </p:cNvPr>
          <p:cNvSpPr txBox="1"/>
          <p:nvPr/>
        </p:nvSpPr>
        <p:spPr>
          <a:xfrm>
            <a:off x="762000" y="53340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03 — BACKEND DEEP DIVE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340371F-9DF8-427F-B5CB-60074A819AC2}"/>
              </a:ext>
            </a:extLst>
          </p:cNvPr>
          <p:cNvSpPr txBox="1"/>
          <p:nvPr/>
        </p:nvSpPr>
        <p:spPr>
          <a:xfrm>
            <a:off x="762000" y="800100"/>
            <a:ext cx="10668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</a:rPr>
              <a:t>Every request passes five defense layers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7B8B38F-292D-4A2C-B00F-06330BCBD637}"/>
              </a:ext>
            </a:extLst>
          </p:cNvPr>
          <p:cNvSpPr/>
          <p:nvPr/>
        </p:nvSpPr>
        <p:spPr>
          <a:xfrm>
            <a:off x="762000" y="2000250"/>
            <a:ext cx="20193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1 · Auth + RBAC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61C5344-A56C-43A8-A4BF-8D9CAA580F8A}"/>
              </a:ext>
            </a:extLst>
          </p:cNvPr>
          <p:cNvSpPr/>
          <p:nvPr/>
        </p:nvSpPr>
        <p:spPr>
          <a:xfrm>
            <a:off x="2952750" y="2000250"/>
            <a:ext cx="20193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2 · Validation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7C17EDE-F19B-4092-9D99-A24141D463F2}"/>
              </a:ext>
            </a:extLst>
          </p:cNvPr>
          <p:cNvSpPr/>
          <p:nvPr/>
        </p:nvSpPr>
        <p:spPr>
          <a:xfrm>
            <a:off x="5143500" y="2000250"/>
            <a:ext cx="20193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3 · DTO mapping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6346DE7-83ED-4046-B3DA-34A817031D89}"/>
              </a:ext>
            </a:extLst>
          </p:cNvPr>
          <p:cNvSpPr/>
          <p:nvPr/>
        </p:nvSpPr>
        <p:spPr>
          <a:xfrm>
            <a:off x="7334250" y="2000250"/>
            <a:ext cx="20193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4 · JPA + index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DD4D09D-2E13-4B0B-9B02-3EA1734B1559}"/>
              </a:ext>
            </a:extLst>
          </p:cNvPr>
          <p:cNvSpPr/>
          <p:nvPr/>
        </p:nvSpPr>
        <p:spPr>
          <a:xfrm>
            <a:off x="9525000" y="2000250"/>
            <a:ext cx="20193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5 · Flyway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9EDF737-3022-4B33-B0A5-E9E116ED2B9D}"/>
              </a:ext>
            </a:extLst>
          </p:cNvPr>
          <p:cNvSpPr txBox="1"/>
          <p:nvPr/>
        </p:nvSpPr>
        <p:spPr>
          <a:xfrm>
            <a:off x="762000" y="3067050"/>
            <a:ext cx="201930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8B949E"/>
                </a:solidFill>
              </a:rPr>
              <a:t>Basic Auth credentials checked before any handler runs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0B8500E-B622-41F1-B035-7F625AB2EDA2}"/>
              </a:ext>
            </a:extLst>
          </p:cNvPr>
          <p:cNvSpPr txBox="1"/>
          <p:nvPr/>
        </p:nvSpPr>
        <p:spPr>
          <a:xfrm>
            <a:off x="2952750" y="3067050"/>
            <a:ext cx="201930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8B949E"/>
                </a:solidFill>
              </a:rPr>
              <a:t>@NotNull, @Size and CVE format pattern enforcement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5ECE128-F14D-4F15-9B4C-EF8F3C0F1DFE}"/>
              </a:ext>
            </a:extLst>
          </p:cNvPr>
          <p:cNvSpPr txBox="1"/>
          <p:nvPr/>
        </p:nvSpPr>
        <p:spPr>
          <a:xfrm>
            <a:off x="5143500" y="3067050"/>
            <a:ext cx="201930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8B949E"/>
                </a:solidFill>
              </a:rPr>
              <a:t>Entities never cross the HTTP boundary — DTOs only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F3D8211-B629-4B76-8CB8-00E6CAAFCDBA}"/>
              </a:ext>
            </a:extLst>
          </p:cNvPr>
          <p:cNvSpPr txBox="1"/>
          <p:nvPr/>
        </p:nvSpPr>
        <p:spPr>
          <a:xfrm>
            <a:off x="7334250" y="3067050"/>
            <a:ext cx="201930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8B949E"/>
                </a:solidFill>
              </a:rPr>
              <a:t>Spring Data JPA, B-tree index on severity column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EED6A00-853F-421F-8642-0FF186F68D97}"/>
              </a:ext>
            </a:extLst>
          </p:cNvPr>
          <p:cNvSpPr txBox="1"/>
          <p:nvPr/>
        </p:nvSpPr>
        <p:spPr>
          <a:xfrm>
            <a:off x="9525000" y="3067050"/>
            <a:ext cx="201930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8B949E"/>
                </a:solidFill>
              </a:rPr>
              <a:t>Versioned, repeatable SQL schema migrations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534E8D8-C285-435B-ABB7-674DF80E546D}"/>
              </a:ext>
            </a:extLst>
          </p:cNvPr>
          <p:cNvSpPr/>
          <p:nvPr/>
        </p:nvSpPr>
        <p:spPr>
          <a:xfrm>
            <a:off x="762000" y="5143500"/>
            <a:ext cx="10668000" cy="10477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989E23B-5F10-4F37-99E9-261C3701A631}"/>
              </a:ext>
            </a:extLst>
          </p:cNvPr>
          <p:cNvSpPr txBox="1"/>
          <p:nvPr/>
        </p:nvSpPr>
        <p:spPr>
          <a:xfrm>
            <a:off x="1143000" y="5381625"/>
            <a:ext cx="1714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57D9A3"/>
                </a:solidFill>
              </a:rPr>
              <a:t>19/19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DE2CC6F-DA61-435E-B23E-E23C898B18B8}"/>
              </a:ext>
            </a:extLst>
          </p:cNvPr>
          <p:cNvSpPr txBox="1"/>
          <p:nvPr/>
        </p:nvSpPr>
        <p:spPr>
          <a:xfrm>
            <a:off x="3048000" y="5362575"/>
            <a:ext cx="8001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C9D1D9"/>
                </a:solidFill>
              </a:rPr>
              <a:t>backend tests green — unit + @DataJpaTest integration, enforced on every pull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FA5231-E017-40C9-BD0A-544D3281BB03}"/>
              </a:ext>
            </a:extLst>
          </p:cNvPr>
          <p:cNvSpPr txBox="1"/>
          <p:nvPr/>
        </p:nvSpPr>
        <p:spPr>
          <a:xfrm>
            <a:off x="762000" y="53340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04 — APPLICATION SECURITY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82E2E75-58A2-411A-BCB5-2CB46ADBBA2C}"/>
              </a:ext>
            </a:extLst>
          </p:cNvPr>
          <p:cNvSpPr txBox="1"/>
          <p:nvPr/>
        </p:nvSpPr>
        <p:spPr>
          <a:xfrm>
            <a:off x="762000" y="800100"/>
            <a:ext cx="10668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</a:rPr>
              <a:t>Passwords hashed for the worst-case scenario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492809B-1037-4E9F-A8CC-F41CEE7053D9}"/>
              </a:ext>
            </a:extLst>
          </p:cNvPr>
          <p:cNvSpPr txBox="1"/>
          <p:nvPr/>
        </p:nvSpPr>
        <p:spPr>
          <a:xfrm>
            <a:off x="762000" y="1714500"/>
            <a:ext cx="2667000" cy="2000250"/>
          </a:xfrm>
        </p:spPr>
        <p:txBody>
          <a:bodyPr wrap="square" rtlCol="0" lIns="0" tIns="0" rIns="0" bIns="0" anchor="t"/>
          <a:lstStyle/>
          <a:p>
            <a:pPr algn="l"/>
            <a:r>
              <a:rPr sz="12000" b="1">
                <a:solidFill>
                  <a:srgbClr val="E5484D"/>
                </a:solidFill>
              </a:rPr>
              <a:t>12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B613EB9-708B-4444-A320-F3196F038C82}"/>
              </a:ext>
            </a:extLst>
          </p:cNvPr>
          <p:cNvSpPr txBox="1"/>
          <p:nvPr/>
        </p:nvSpPr>
        <p:spPr>
          <a:xfrm>
            <a:off x="762000" y="3905250"/>
            <a:ext cx="26670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8B949E"/>
                </a:solidFill>
              </a:rPr>
              <a:t>BCrypt cost factor — 2^12 rounds of key stretching per password hash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7656C0E-FCF7-4761-9524-67190602B01B}"/>
              </a:ext>
            </a:extLst>
          </p:cNvPr>
          <p:cNvSpPr/>
          <p:nvPr/>
        </p:nvSpPr>
        <p:spPr>
          <a:xfrm>
            <a:off x="3810000" y="1524000"/>
            <a:ext cx="7620000" cy="1000125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6A98C52-D0EA-4019-AFCA-48D54A160977}"/>
              </a:ext>
            </a:extLst>
          </p:cNvPr>
          <p:cNvSpPr/>
          <p:nvPr/>
        </p:nvSpPr>
        <p:spPr>
          <a:xfrm>
            <a:off x="3810000" y="2667000"/>
            <a:ext cx="7620000" cy="1000125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7F57CEF-3FC4-4A68-B117-D70010ED5724}"/>
              </a:ext>
            </a:extLst>
          </p:cNvPr>
          <p:cNvSpPr/>
          <p:nvPr/>
        </p:nvSpPr>
        <p:spPr>
          <a:xfrm>
            <a:off x="3810000" y="3810000"/>
            <a:ext cx="7620000" cy="1000125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8046C80-6F16-436A-9BB6-36F1B6EDD544}"/>
              </a:ext>
            </a:extLst>
          </p:cNvPr>
          <p:cNvSpPr/>
          <p:nvPr/>
        </p:nvSpPr>
        <p:spPr>
          <a:xfrm>
            <a:off x="3810000" y="4953000"/>
            <a:ext cx="7620000" cy="1000125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5AB22E7-F746-49A5-84C8-52E6BFDFAF53}"/>
              </a:ext>
            </a:extLst>
          </p:cNvPr>
          <p:cNvSpPr txBox="1"/>
          <p:nvPr/>
        </p:nvSpPr>
        <p:spPr>
          <a:xfrm>
            <a:off x="4038600" y="1676400"/>
            <a:ext cx="7162800" cy="7048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RBAC enforced at the framework layer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8B949E"/>
                </a:solidFill>
              </a:rPr>
              <a:t>viewer POST → live-verified 403 — not just hidden UI buttons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D437AA6-E828-4247-859E-01C173D02A95}"/>
              </a:ext>
            </a:extLst>
          </p:cNvPr>
          <p:cNvSpPr txBox="1"/>
          <p:nvPr/>
        </p:nvSpPr>
        <p:spPr>
          <a:xfrm>
            <a:off x="4038600" y="2819400"/>
            <a:ext cx="7162800" cy="7048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Standardized error envelope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8B949E"/>
                </a:solidFill>
              </a:rPr>
              <a:t>status + machine-readable code field; zero stack-trace leakage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DEC917C-F073-4B8F-8BCE-AF47DC170B1E}"/>
              </a:ext>
            </a:extLst>
          </p:cNvPr>
          <p:cNvSpPr txBox="1"/>
          <p:nvPr/>
        </p:nvSpPr>
        <p:spPr>
          <a:xfrm>
            <a:off x="4038600" y="3962400"/>
            <a:ext cx="7162800" cy="7048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Strict input validation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8B949E"/>
                </a:solidFill>
              </a:rPr>
              <a:t>Bean Validation incl. CVE pattern; bad enum values → clean 400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85C5ED8-0C81-491E-8404-8D922608D8BC}"/>
              </a:ext>
            </a:extLst>
          </p:cNvPr>
          <p:cNvSpPr txBox="1"/>
          <p:nvPr/>
        </p:nvSpPr>
        <p:spPr>
          <a:xfrm>
            <a:off x="4038600" y="5105400"/>
            <a:ext cx="7162800" cy="7048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Secrets never reach git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8B949E"/>
                </a:solidFill>
              </a:rPr>
              <a:t>GitLeaks gate fails CI on any credential pattern in the diff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BDA9408-EA2D-48B2-B727-E064816F6B39}"/>
              </a:ext>
            </a:extLst>
          </p:cNvPr>
          <p:cNvSpPr txBox="1"/>
          <p:nvPr/>
        </p:nvSpPr>
        <p:spPr>
          <a:xfrm>
            <a:off x="762000" y="53340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05 — CI/CD QUALITY GATES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DFE572D-CC04-42CD-944D-35DCD86F023C}"/>
              </a:ext>
            </a:extLst>
          </p:cNvPr>
          <p:cNvSpPr txBox="1"/>
          <p:nvPr/>
        </p:nvSpPr>
        <p:spPr>
          <a:xfrm>
            <a:off x="762000" y="800100"/>
            <a:ext cx="10668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</a:rPr>
              <a:t>GitHub Actions: four gates between commit and registry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F6047B8-F1BC-4251-9339-AD540541F511}"/>
              </a:ext>
            </a:extLst>
          </p:cNvPr>
          <p:cNvSpPr/>
          <p:nvPr/>
        </p:nvSpPr>
        <p:spPr>
          <a:xfrm>
            <a:off x="762000" y="1809750"/>
            <a:ext cx="2476500" cy="28575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5CF5ACF-C166-4D11-9543-781A38CF752D}"/>
              </a:ext>
            </a:extLst>
          </p:cNvPr>
          <p:cNvSpPr/>
          <p:nvPr/>
        </p:nvSpPr>
        <p:spPr>
          <a:xfrm>
            <a:off x="3619500" y="1809750"/>
            <a:ext cx="2476500" cy="28575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7BF82F3-0A4C-462F-A9C9-569D09B64220}"/>
              </a:ext>
            </a:extLst>
          </p:cNvPr>
          <p:cNvSpPr/>
          <p:nvPr/>
        </p:nvSpPr>
        <p:spPr>
          <a:xfrm>
            <a:off x="6477000" y="1809750"/>
            <a:ext cx="2476500" cy="28575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EF0A73D-945A-4364-8E70-056F45E67316}"/>
              </a:ext>
            </a:extLst>
          </p:cNvPr>
          <p:cNvSpPr/>
          <p:nvPr/>
        </p:nvSpPr>
        <p:spPr>
          <a:xfrm>
            <a:off x="9334500" y="1809750"/>
            <a:ext cx="2476500" cy="28575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3F015EC-16D7-4A65-BDF3-3A3BD1B8B3FC}"/>
              </a:ext>
            </a:extLst>
          </p:cNvPr>
          <p:cNvSpPr txBox="1"/>
          <p:nvPr/>
        </p:nvSpPr>
        <p:spPr>
          <a:xfrm>
            <a:off x="990600" y="2057400"/>
            <a:ext cx="2019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49E"/>
                </a:solidFill>
              </a:rPr>
              <a:t>GATE 01 · TESTS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504B460-7C43-4082-BEE1-4C022D71FCEB}"/>
              </a:ext>
            </a:extLst>
          </p:cNvPr>
          <p:cNvSpPr txBox="1"/>
          <p:nvPr/>
        </p:nvSpPr>
        <p:spPr>
          <a:xfrm>
            <a:off x="990600" y="2343150"/>
            <a:ext cx="20193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5484D"/>
                </a:solidFill>
              </a:rPr>
              <a:t>19/19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66E7922-0258-40A3-AFA2-FF0D34CEB8A3}"/>
              </a:ext>
            </a:extLst>
          </p:cNvPr>
          <p:cNvSpPr txBox="1"/>
          <p:nvPr/>
        </p:nvSpPr>
        <p:spPr>
          <a:xfrm>
            <a:off x="990600" y="3028950"/>
            <a:ext cx="2019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Maven test suite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FE7C808-856E-430E-8BE2-E13E641EEBD7}"/>
              </a:ext>
            </a:extLst>
          </p:cNvPr>
          <p:cNvSpPr txBox="1"/>
          <p:nvPr/>
        </p:nvSpPr>
        <p:spPr>
          <a:xfrm>
            <a:off x="990600" y="3352800"/>
            <a:ext cx="2019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B949E"/>
                </a:solidFill>
              </a:rPr>
              <a:t>unit + integration tests run on every push and PR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0B248C-0ACD-44EA-B1FD-446B5C77A94C}"/>
              </a:ext>
            </a:extLst>
          </p:cNvPr>
          <p:cNvSpPr txBox="1"/>
          <p:nvPr/>
        </p:nvSpPr>
        <p:spPr>
          <a:xfrm>
            <a:off x="3848100" y="2057400"/>
            <a:ext cx="2019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49E"/>
                </a:solidFill>
              </a:rPr>
              <a:t>GATE 02 · GITLEAKS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8D06BC1-EBDD-4091-9A54-CACF447D933B}"/>
              </a:ext>
            </a:extLst>
          </p:cNvPr>
          <p:cNvSpPr txBox="1"/>
          <p:nvPr/>
        </p:nvSpPr>
        <p:spPr>
          <a:xfrm>
            <a:off x="3848100" y="2343150"/>
            <a:ext cx="20193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5484D"/>
                </a:solidFill>
              </a:rPr>
              <a:t>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920070-F407-4DEF-916B-828AF0F1705A}"/>
              </a:ext>
            </a:extLst>
          </p:cNvPr>
          <p:cNvSpPr txBox="1"/>
          <p:nvPr/>
        </p:nvSpPr>
        <p:spPr>
          <a:xfrm>
            <a:off x="3848100" y="3028950"/>
            <a:ext cx="2019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secrets tolerated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E4A7F73-DABB-4C81-86FE-A4A03D1189AC}"/>
              </a:ext>
            </a:extLst>
          </p:cNvPr>
          <p:cNvSpPr txBox="1"/>
          <p:nvPr/>
        </p:nvSpPr>
        <p:spPr>
          <a:xfrm>
            <a:off x="3848100" y="3352800"/>
            <a:ext cx="2019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B949E"/>
                </a:solidFill>
              </a:rPr>
              <a:t>scans every diff for credential and key patterns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D24EE16-E053-4C5E-80DF-58107EE3B8D6}"/>
              </a:ext>
            </a:extLst>
          </p:cNvPr>
          <p:cNvSpPr txBox="1"/>
          <p:nvPr/>
        </p:nvSpPr>
        <p:spPr>
          <a:xfrm>
            <a:off x="6705600" y="2057400"/>
            <a:ext cx="2019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49E"/>
                </a:solidFill>
              </a:rPr>
              <a:t>GATE 03 · TRIVY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1E74AC7-65F5-4DE2-B9EC-2BCC8C90136B}"/>
              </a:ext>
            </a:extLst>
          </p:cNvPr>
          <p:cNvSpPr txBox="1"/>
          <p:nvPr/>
        </p:nvSpPr>
        <p:spPr>
          <a:xfrm>
            <a:off x="6705600" y="2343150"/>
            <a:ext cx="20193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5484D"/>
                </a:solidFill>
              </a:rPr>
              <a:t>CVE scan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5B96713-B006-4A86-A1E1-E3BBEBD34F8E}"/>
              </a:ext>
            </a:extLst>
          </p:cNvPr>
          <p:cNvSpPr txBox="1"/>
          <p:nvPr/>
        </p:nvSpPr>
        <p:spPr>
          <a:xfrm>
            <a:off x="6705600" y="3028950"/>
            <a:ext cx="2019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image scanning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C31AA17-EB53-4234-BDF8-0B432FE15813}"/>
              </a:ext>
            </a:extLst>
          </p:cNvPr>
          <p:cNvSpPr txBox="1"/>
          <p:nvPr/>
        </p:nvSpPr>
        <p:spPr>
          <a:xfrm>
            <a:off x="6705600" y="3352800"/>
            <a:ext cx="2019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B949E"/>
                </a:solidFill>
              </a:rPr>
              <a:t>critical vulnerabilities block image publishing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880305C-9971-4627-9661-163A936213BD}"/>
              </a:ext>
            </a:extLst>
          </p:cNvPr>
          <p:cNvSpPr txBox="1"/>
          <p:nvPr/>
        </p:nvSpPr>
        <p:spPr>
          <a:xfrm>
            <a:off x="9563100" y="2057400"/>
            <a:ext cx="2019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49E"/>
                </a:solidFill>
              </a:rPr>
              <a:t>GATE 04 · REGISTRY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277E013-4D31-4089-BDF0-79C549884AD8}"/>
              </a:ext>
            </a:extLst>
          </p:cNvPr>
          <p:cNvSpPr txBox="1"/>
          <p:nvPr/>
        </p:nvSpPr>
        <p:spPr>
          <a:xfrm>
            <a:off x="9563100" y="2343150"/>
            <a:ext cx="20193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5484D"/>
                </a:solidFill>
              </a:rPr>
              <a:t>GHCR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54485EF-B9E6-4E3F-B326-5B45ADF3298C}"/>
              </a:ext>
            </a:extLst>
          </p:cNvPr>
          <p:cNvSpPr txBox="1"/>
          <p:nvPr/>
        </p:nvSpPr>
        <p:spPr>
          <a:xfrm>
            <a:off x="9563100" y="3028950"/>
            <a:ext cx="2019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immutable images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A38759B-AD8B-432F-91A0-0E066C16D566}"/>
              </a:ext>
            </a:extLst>
          </p:cNvPr>
          <p:cNvSpPr txBox="1"/>
          <p:nvPr/>
        </p:nvSpPr>
        <p:spPr>
          <a:xfrm>
            <a:off x="9563100" y="3352800"/>
            <a:ext cx="2019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B949E"/>
                </a:solidFill>
              </a:rPr>
              <a:t>digest-pinned artifacts — no mutable latest tags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56BF1DF-BE63-4D57-BCFE-8C083609F24A}"/>
              </a:ext>
            </a:extLst>
          </p:cNvPr>
          <p:cNvSpPr/>
          <p:nvPr/>
        </p:nvSpPr>
        <p:spPr>
          <a:xfrm>
            <a:off x="762000" y="5143500"/>
            <a:ext cx="10668000" cy="10477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35B69F7-6E4E-4D98-B56C-081F34C1770D}"/>
              </a:ext>
            </a:extLst>
          </p:cNvPr>
          <p:cNvSpPr txBox="1"/>
          <p:nvPr/>
        </p:nvSpPr>
        <p:spPr>
          <a:xfrm>
            <a:off x="1143000" y="5410200"/>
            <a:ext cx="9906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3"/>
                </a:solidFill>
              </a:rPr>
              <a:t>Shift-left: </a:t>
            </a:r>
            <a:r>
              <a:rPr sz="1500">
                <a:solidFill>
                  <a:srgbClr val="C9D1D9"/>
                </a:solidFill>
              </a:rPr>
              <a:t>security checks run on every push and pull request — before anything reaches a cluster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BED1932-9DAF-4E93-B8DB-2DA55BBC4AB3}"/>
              </a:ext>
            </a:extLst>
          </p:cNvPr>
          <p:cNvSpPr txBox="1"/>
          <p:nvPr/>
        </p:nvSpPr>
        <p:spPr>
          <a:xfrm>
            <a:off x="762000" y="533400"/>
            <a:ext cx="571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06 — INFRASTRUCTURE AS CODE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CD925A9-4363-43F7-8B8E-54581F1350AD}"/>
              </a:ext>
            </a:extLst>
          </p:cNvPr>
          <p:cNvSpPr txBox="1"/>
          <p:nvPr/>
        </p:nvSpPr>
        <p:spPr>
          <a:xfrm>
            <a:off x="762000" y="800100"/>
            <a:ext cx="10668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</a:rPr>
              <a:t>Terraform: four resources, one reproducible baseline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91DA43A-0A4C-4035-A3CE-F7DD9309A87E}"/>
              </a:ext>
            </a:extLst>
          </p:cNvPr>
          <p:cNvSpPr/>
          <p:nvPr/>
        </p:nvSpPr>
        <p:spPr>
          <a:xfrm>
            <a:off x="762000" y="1524000"/>
            <a:ext cx="5143500" cy="20002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749A237-0552-4C88-937B-0D161AD556F1}"/>
              </a:ext>
            </a:extLst>
          </p:cNvPr>
          <p:cNvSpPr/>
          <p:nvPr/>
        </p:nvSpPr>
        <p:spPr>
          <a:xfrm>
            <a:off x="6286500" y="1524000"/>
            <a:ext cx="5143500" cy="20002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1EC2477-74E4-44BD-AD42-C3D52F89D1B3}"/>
              </a:ext>
            </a:extLst>
          </p:cNvPr>
          <p:cNvSpPr/>
          <p:nvPr/>
        </p:nvSpPr>
        <p:spPr>
          <a:xfrm>
            <a:off x="762000" y="3810000"/>
            <a:ext cx="5143500" cy="20002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3BE61AD-57D5-4907-9B74-4E37A6F8C462}"/>
              </a:ext>
            </a:extLst>
          </p:cNvPr>
          <p:cNvSpPr/>
          <p:nvPr/>
        </p:nvSpPr>
        <p:spPr>
          <a:xfrm>
            <a:off x="6286500" y="3810000"/>
            <a:ext cx="5143500" cy="20002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4571A04-D581-49B6-9FA4-F609E3FE2EB8}"/>
              </a:ext>
            </a:extLst>
          </p:cNvPr>
          <p:cNvSpPr txBox="1"/>
          <p:nvPr/>
        </p:nvSpPr>
        <p:spPr>
          <a:xfrm>
            <a:off x="1066800" y="1771650"/>
            <a:ext cx="45339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8B949E"/>
                </a:solidFill>
              </a:rPr>
              <a:t>RESOURCE 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2DEACA-C520-4E63-B63A-5230FC04A0C5}"/>
              </a:ext>
            </a:extLst>
          </p:cNvPr>
          <p:cNvSpPr txBox="1"/>
          <p:nvPr/>
        </p:nvSpPr>
        <p:spPr>
          <a:xfrm>
            <a:off x="1066800" y="2038350"/>
            <a:ext cx="45339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6EDF3"/>
                </a:solidFill>
              </a:rPr>
              <a:t>Namespace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6447CFF-02F2-4EC0-9F97-36D5181CB5A0}"/>
              </a:ext>
            </a:extLst>
          </p:cNvPr>
          <p:cNvSpPr txBox="1"/>
          <p:nvPr/>
        </p:nvSpPr>
        <p:spPr>
          <a:xfrm>
            <a:off x="1066800" y="2457450"/>
            <a:ext cx="45339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>
                <a:solidFill>
                  <a:srgbClr val="C9D1D9"/>
                </a:solidFill>
              </a:rPr>
              <a:t>vulntrack isolates every workload, quota, and network policy from other tenants on the cluster.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96D0545-3F93-424E-AB5C-19720DF80330}"/>
              </a:ext>
            </a:extLst>
          </p:cNvPr>
          <p:cNvSpPr txBox="1"/>
          <p:nvPr/>
        </p:nvSpPr>
        <p:spPr>
          <a:xfrm>
            <a:off x="6591300" y="1771650"/>
            <a:ext cx="45339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8B949E"/>
                </a:solidFill>
              </a:rPr>
              <a:t>RESOURCE 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BA2A216-C2AE-4B25-8D1B-D19654C62CD0}"/>
              </a:ext>
            </a:extLst>
          </p:cNvPr>
          <p:cNvSpPr txBox="1"/>
          <p:nvPr/>
        </p:nvSpPr>
        <p:spPr>
          <a:xfrm>
            <a:off x="6591300" y="2038350"/>
            <a:ext cx="45339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6EDF3"/>
                </a:solidFill>
              </a:rPr>
              <a:t>ResourceQuota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36029BC-EC77-44A9-86F8-A245B3A4091D}"/>
              </a:ext>
            </a:extLst>
          </p:cNvPr>
          <p:cNvSpPr txBox="1"/>
          <p:nvPr/>
        </p:nvSpPr>
        <p:spPr>
          <a:xfrm>
            <a:off x="6591300" y="2457450"/>
            <a:ext cx="45339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>
                <a:solidFill>
                  <a:srgbClr val="C9D1D9"/>
                </a:solidFill>
              </a:rPr>
              <a:t>Hard caps on total CPU and memory stop noisy-neighbor exhaustion before it starts.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B3ED69A-4434-43F7-B1FF-584236F20C8B}"/>
              </a:ext>
            </a:extLst>
          </p:cNvPr>
          <p:cNvSpPr txBox="1"/>
          <p:nvPr/>
        </p:nvSpPr>
        <p:spPr>
          <a:xfrm>
            <a:off x="1066800" y="4057650"/>
            <a:ext cx="45339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8B949E"/>
                </a:solidFill>
              </a:rPr>
              <a:t>RESOURCE 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CB6CAA4-00B1-4D2C-8548-94070275D3C7}"/>
              </a:ext>
            </a:extLst>
          </p:cNvPr>
          <p:cNvSpPr txBox="1"/>
          <p:nvPr/>
        </p:nvSpPr>
        <p:spPr>
          <a:xfrm>
            <a:off x="1066800" y="4324350"/>
            <a:ext cx="45339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6EDF3"/>
                </a:solidFill>
              </a:rPr>
              <a:t>LimitRange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3A58BFF-C34A-41CD-92C9-96746706A407}"/>
              </a:ext>
            </a:extLst>
          </p:cNvPr>
          <p:cNvSpPr txBox="1"/>
          <p:nvPr/>
        </p:nvSpPr>
        <p:spPr>
          <a:xfrm>
            <a:off x="1066800" y="4743450"/>
            <a:ext cx="45339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>
                <a:solidFill>
                  <a:srgbClr val="C9D1D9"/>
                </a:solidFill>
              </a:rPr>
              <a:t>Every pod inherits default request and limit bounds — nothing launches unbounded.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57EB1E6-D724-4117-A106-16762EFE6DC5}"/>
              </a:ext>
            </a:extLst>
          </p:cNvPr>
          <p:cNvSpPr txBox="1"/>
          <p:nvPr/>
        </p:nvSpPr>
        <p:spPr>
          <a:xfrm>
            <a:off x="6591300" y="4057650"/>
            <a:ext cx="45339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8B949E"/>
                </a:solidFill>
              </a:rPr>
              <a:t>RESOURCE 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2B26DC6-7B45-4783-B6DB-67921C444273}"/>
              </a:ext>
            </a:extLst>
          </p:cNvPr>
          <p:cNvSpPr txBox="1"/>
          <p:nvPr/>
        </p:nvSpPr>
        <p:spPr>
          <a:xfrm>
            <a:off x="6591300" y="4324350"/>
            <a:ext cx="45339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6EDF3"/>
                </a:solidFill>
              </a:rPr>
              <a:t>ServiceAccount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E166195-DC9E-46B0-85C5-4AC3781F0653}"/>
              </a:ext>
            </a:extLst>
          </p:cNvPr>
          <p:cNvSpPr txBox="1"/>
          <p:nvPr/>
        </p:nvSpPr>
        <p:spPr>
          <a:xfrm>
            <a:off x="6591300" y="4743450"/>
            <a:ext cx="45339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>
                <a:solidFill>
                  <a:srgbClr val="C9D1D9"/>
                </a:solidFill>
              </a:rPr>
              <a:t>Workloads run under a dedicated least-privilege identity — never the cluster default.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6E78CE2-EDD9-4B30-BA3C-5C0BDB184990}"/>
              </a:ext>
            </a:extLst>
          </p:cNvPr>
          <p:cNvSpPr txBox="1"/>
          <p:nvPr/>
        </p:nvSpPr>
        <p:spPr>
          <a:xfrm>
            <a:off x="762000" y="6134100"/>
            <a:ext cx="1066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B949E"/>
                </a:solidFill>
              </a:rPr>
              <a:t>terraform plan → apply — the entire cluster baseline is reviewable in a pull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811C9B9-E976-4FA9-A580-CDDDE5ACBC65}"/>
              </a:ext>
            </a:extLst>
          </p:cNvPr>
          <p:cNvSpPr txBox="1"/>
          <p:nvPr/>
        </p:nvSpPr>
        <p:spPr>
          <a:xfrm>
            <a:off x="762000" y="533400"/>
            <a:ext cx="571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07 — KUBERNETES &amp; AUTOSCALING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846E68C-C74A-47FD-8616-E7252BE261E9}"/>
              </a:ext>
            </a:extLst>
          </p:cNvPr>
          <p:cNvSpPr txBox="1"/>
          <p:nvPr/>
        </p:nvSpPr>
        <p:spPr>
          <a:xfrm>
            <a:off x="762000" y="800100"/>
            <a:ext cx="10668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</a:rPr>
              <a:t>HPA scales the backend between 2 and 5 pods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0A4644D-83FE-4364-A8E0-856A6F657182}"/>
              </a:ext>
            </a:extLst>
          </p:cNvPr>
          <p:cNvSpPr/>
          <p:nvPr/>
        </p:nvSpPr>
        <p:spPr>
          <a:xfrm>
            <a:off x="762000" y="1524000"/>
            <a:ext cx="5334000" cy="40005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E9BFFF5-8DE5-42C1-9BEF-19CF976362F8}"/>
              </a:ext>
            </a:extLst>
          </p:cNvPr>
          <p:cNvSpPr txBox="1"/>
          <p:nvPr/>
        </p:nvSpPr>
        <p:spPr>
          <a:xfrm>
            <a:off x="1066800" y="1752600"/>
            <a:ext cx="47053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6EDF3"/>
                </a:solidFill>
              </a:rPr>
              <a:t>Horizontal Pod Autoscaler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003EC7D-AE96-4BEA-A983-9410DE5C94C5}"/>
              </a:ext>
            </a:extLst>
          </p:cNvPr>
          <p:cNvSpPr txBox="1"/>
          <p:nvPr/>
        </p:nvSpPr>
        <p:spPr>
          <a:xfrm>
            <a:off x="3810000" y="2057400"/>
            <a:ext cx="142875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E5484D"/>
                </a:solidFill>
              </a:rPr>
              <a:t>CPU 70%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0D1942C-52E5-4F65-8426-52BFCF9A1492}"/>
              </a:ext>
            </a:extLst>
          </p:cNvPr>
          <p:cNvSpPr/>
          <p:nvPr/>
        </p:nvSpPr>
        <p:spPr>
          <a:xfrm>
            <a:off x="4514850" y="2286000"/>
            <a:ext cx="28575" cy="2286000"/>
          </a:xfrm>
          <a:prstGeom prst="rect">
            <a:avLst/>
          </a:prstGeom>
          <a:solidFill>
            <a:srgbClr val="E548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533E00A-0CDF-4C73-8257-5B79FACCDAB9}"/>
              </a:ext>
            </a:extLst>
          </p:cNvPr>
          <p:cNvSpPr txBox="1"/>
          <p:nvPr/>
        </p:nvSpPr>
        <p:spPr>
          <a:xfrm>
            <a:off x="1066800" y="2400300"/>
            <a:ext cx="1619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9D1D9"/>
                </a:solidFill>
              </a:rPr>
              <a:t>minReplicas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7147711-60CC-4105-96B8-FD267614E4E0}"/>
              </a:ext>
            </a:extLst>
          </p:cNvPr>
          <p:cNvSpPr/>
          <p:nvPr/>
        </p:nvSpPr>
        <p:spPr>
          <a:xfrm>
            <a:off x="2857500" y="2343150"/>
            <a:ext cx="952500" cy="419100"/>
          </a:xfrm>
          <a:prstGeom prst="rect">
            <a:avLst/>
          </a:prstGeom>
          <a:solidFill>
            <a:srgbClr val="57D9A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A376FA2-E936-4955-9CBC-BE1E45D48D08}"/>
              </a:ext>
            </a:extLst>
          </p:cNvPr>
          <p:cNvSpPr txBox="1"/>
          <p:nvPr/>
        </p:nvSpPr>
        <p:spPr>
          <a:xfrm>
            <a:off x="3924300" y="2400300"/>
            <a:ext cx="76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6EDF3"/>
                </a:solidFill>
              </a:rPr>
              <a:t>2 pods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96E08A5-0485-4327-AC4F-C080E222A74C}"/>
              </a:ext>
            </a:extLst>
          </p:cNvPr>
          <p:cNvSpPr txBox="1"/>
          <p:nvPr/>
        </p:nvSpPr>
        <p:spPr>
          <a:xfrm>
            <a:off x="1066800" y="3924300"/>
            <a:ext cx="1619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9D1D9"/>
                </a:solidFill>
              </a:rPr>
              <a:t>maxReplicas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E9D3E39-034A-4440-8CB7-B9443F1AEF52}"/>
              </a:ext>
            </a:extLst>
          </p:cNvPr>
          <p:cNvSpPr/>
          <p:nvPr/>
        </p:nvSpPr>
        <p:spPr>
          <a:xfrm>
            <a:off x="2857500" y="3867150"/>
            <a:ext cx="2381250" cy="419100"/>
          </a:xfrm>
          <a:prstGeom prst="rect">
            <a:avLst/>
          </a:prstGeom>
          <a:solidFill>
            <a:srgbClr val="E548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DC87DB8-95B9-4062-8C19-6005FAC45EFF}"/>
              </a:ext>
            </a:extLst>
          </p:cNvPr>
          <p:cNvSpPr txBox="1"/>
          <p:nvPr/>
        </p:nvSpPr>
        <p:spPr>
          <a:xfrm>
            <a:off x="5353050" y="3924300"/>
            <a:ext cx="76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6EDF3"/>
                </a:solidFill>
              </a:rPr>
              <a:t>5 pods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6019205-5C7A-4AB6-8975-717AD8B01115}"/>
              </a:ext>
            </a:extLst>
          </p:cNvPr>
          <p:cNvSpPr txBox="1"/>
          <p:nvPr/>
        </p:nvSpPr>
        <p:spPr>
          <a:xfrm>
            <a:off x="1066800" y="4762500"/>
            <a:ext cx="47244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8B949E"/>
                </a:solidFill>
              </a:rPr>
              <a:t>Bars = replica count. Red marker = scale-up threshold at 70% CPU utilization.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E4EAF83-842F-457A-8E06-AB4E9DFDCF67}"/>
              </a:ext>
            </a:extLst>
          </p:cNvPr>
          <p:cNvSpPr txBox="1"/>
          <p:nvPr/>
        </p:nvSpPr>
        <p:spPr>
          <a:xfrm>
            <a:off x="6477000" y="161925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6EDF3"/>
                </a:solidFill>
              </a:rPr>
              <a:t>NGINX Ingress routing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C48D0AC-3F95-4D34-A119-BE2826ABAA68}"/>
              </a:ext>
            </a:extLst>
          </p:cNvPr>
          <p:cNvSpPr txBox="1"/>
          <p:nvPr/>
        </p:nvSpPr>
        <p:spPr>
          <a:xfrm>
            <a:off x="6477000" y="1943100"/>
            <a:ext cx="4953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>
                <a:solidFill>
                  <a:srgbClr val="8B949E"/>
                </a:solidFill>
              </a:rPr>
              <a:t>one entry point: /api → backend service, / → frontend service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C88E5D2-662D-4872-BF48-D47E46829091}"/>
              </a:ext>
            </a:extLst>
          </p:cNvPr>
          <p:cNvSpPr txBox="1"/>
          <p:nvPr/>
        </p:nvSpPr>
        <p:spPr>
          <a:xfrm>
            <a:off x="6477000" y="276225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6EDF3"/>
                </a:solidFill>
              </a:rPr>
              <a:t>Two probes, two jobs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C532DA1-7C45-45E9-B72D-17294C98E4E0}"/>
              </a:ext>
            </a:extLst>
          </p:cNvPr>
          <p:cNvSpPr txBox="1"/>
          <p:nvPr/>
        </p:nvSpPr>
        <p:spPr>
          <a:xfrm>
            <a:off x="6477000" y="3086100"/>
            <a:ext cx="4953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>
                <a:solidFill>
                  <a:srgbClr val="8B949E"/>
                </a:solidFill>
              </a:rPr>
              <a:t>readiness gates traffic until healthy; liveness restarts deadlocked containers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1A895E4-3CE5-4092-B71F-BAA702CD6AD2}"/>
              </a:ext>
            </a:extLst>
          </p:cNvPr>
          <p:cNvSpPr txBox="1"/>
          <p:nvPr/>
        </p:nvSpPr>
        <p:spPr>
          <a:xfrm>
            <a:off x="6477000" y="390525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6EDF3"/>
                </a:solidFill>
              </a:rPr>
              <a:t>Helm packaging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A446596-AD00-41E7-8C33-B31CF08843A0}"/>
              </a:ext>
            </a:extLst>
          </p:cNvPr>
          <p:cNvSpPr txBox="1"/>
          <p:nvPr/>
        </p:nvSpPr>
        <p:spPr>
          <a:xfrm>
            <a:off x="6477000" y="4229100"/>
            <a:ext cx="4953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>
                <a:solidFill>
                  <a:srgbClr val="8B949E"/>
                </a:solidFill>
              </a:rPr>
              <a:t>one command templates deployments, services, ingress, and the autoscaler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B363B338-091F-4CD7-B59D-93F4A08584C0}"/>
              </a:ext>
            </a:extLst>
          </p:cNvPr>
          <p:cNvSpPr/>
          <p:nvPr/>
        </p:nvSpPr>
        <p:spPr>
          <a:xfrm>
            <a:off x="6477000" y="5143500"/>
            <a:ext cx="4953000" cy="104775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E898AAD-7B7A-44A5-A185-15C9A6F4DCC7}"/>
              </a:ext>
            </a:extLst>
          </p:cNvPr>
          <p:cNvSpPr txBox="1"/>
          <p:nvPr/>
        </p:nvSpPr>
        <p:spPr>
          <a:xfrm>
            <a:off x="6781800" y="5391150"/>
            <a:ext cx="43434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6EDF3"/>
                </a:solidFill>
              </a:rPr>
              <a:t>HPA prerequisites: </a:t>
            </a:r>
            <a:r>
              <a:rPr sz="1350">
                <a:solidFill>
                  <a:srgbClr val="8B949E"/>
                </a:solidFill>
              </a:rPr>
              <a:t>metrics-server for utilization data + declared CPU requests — both enforced in our chart.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C9684941-DA27-41FE-9DB8-07DDED116676}"/>
              </a:ext>
            </a:extLst>
          </p:cNvPr>
          <p:cNvPicPr/>
          <p:nvPr/>
        </p:nvPicPr>
        <p:blipFill>
          <a:blip r:embed="rId2"/>
          <a:srcRect t="8078" b="80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821DCCC-8E73-49FD-87F6-AB7577700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>
              <a:alpha val="8000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74ADCA8-1BE7-48FE-815C-19F118F07EF8}"/>
              </a:ext>
            </a:extLst>
          </p:cNvPr>
          <p:cNvSpPr txBox="1"/>
          <p:nvPr/>
        </p:nvSpPr>
        <p:spPr>
          <a:xfrm>
            <a:off x="762000" y="60960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5484D"/>
                </a:solidFill>
              </a:rPr>
              <a:t>08 — OBSERVABILITY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D3315E-68C8-4768-AA71-3F9FF287AAFF}"/>
              </a:ext>
            </a:extLst>
          </p:cNvPr>
          <p:cNvSpPr txBox="1"/>
          <p:nvPr/>
        </p:nvSpPr>
        <p:spPr>
          <a:xfrm>
            <a:off x="762000" y="914400"/>
            <a:ext cx="85725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6EDF3"/>
                </a:solidFill>
              </a:rPr>
              <a:t>Prometheus scrapes. Grafana explains.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687EBD-15B0-4DCA-A87F-9E5265A24EF7}"/>
              </a:ext>
            </a:extLst>
          </p:cNvPr>
          <p:cNvSpPr txBox="1"/>
          <p:nvPr/>
        </p:nvSpPr>
        <p:spPr>
          <a:xfrm>
            <a:off x="762000" y="2095500"/>
            <a:ext cx="5905500" cy="1714500"/>
          </a:xfrm>
        </p:spPr>
        <p:txBody>
          <a:bodyPr wrap="square" rtlCol="0" lIns="0" tIns="0" rIns="0" bIns="0" anchor="t"/>
          <a:lstStyle/>
          <a:p>
            <a:pPr marL="228600" indent="-228600" algn="l">
              <a:spcAft>
                <a:spcPts val="1200"/>
              </a:spcAft>
              <a:buChar char="•"/>
            </a:pPr>
            <a:r>
              <a:rPr sz="1500">
                <a:solidFill>
                  <a:srgbClr val="C9D1D9"/>
                </a:solidFill>
              </a:rPr>
              <a:t>Spring Boot Actuator exposes /actuator/prometheus</a:t>
            </a:r>
          </a:p>
          <a:p>
            <a:pPr marL="228600" indent="-228600" algn="l">
              <a:spcAft>
                <a:spcPts val="1200"/>
              </a:spcAft>
              <a:buChar char="•"/>
            </a:pPr>
            <a:r>
              <a:rPr sz="1500">
                <a:solidFill>
                  <a:srgbClr val="C9D1D9"/>
                </a:solidFill>
              </a:rPr>
              <a:t>Dashboards track JVM memory, P95 latency, and error ratio</a:t>
            </a:r>
          </a:p>
          <a:p>
            <a:pPr algn="l"/>
            <a:r>
              <a:rPr sz="1500">
                <a:solidFill>
                  <a:srgbClr val="C9D1D9"/>
                </a:solidFill>
              </a:rPr>
              <a:t>Alert rules warn before saturation becomes an outage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7B938AF-BE4D-411F-B970-615E189212E1}"/>
              </a:ext>
            </a:extLst>
          </p:cNvPr>
          <p:cNvSpPr/>
          <p:nvPr/>
        </p:nvSpPr>
        <p:spPr>
          <a:xfrm>
            <a:off x="762000" y="5524500"/>
            <a:ext cx="4000500" cy="723900"/>
          </a:xfrm>
          <a:prstGeom prst="roundRect">
            <a:avLst/>
          </a:prstGeom>
          <a:solidFill>
            <a:srgbClr val="161B22">
              <a:alpha val="80000"/>
            </a:srgbClr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CD6FD5B-0535-4EB4-8DD4-5024FEA2D239}"/>
              </a:ext>
            </a:extLst>
          </p:cNvPr>
          <p:cNvSpPr/>
          <p:nvPr/>
        </p:nvSpPr>
        <p:spPr>
          <a:xfrm>
            <a:off x="4991100" y="5524500"/>
            <a:ext cx="4000500" cy="723900"/>
          </a:xfrm>
          <a:prstGeom prst="roundRect">
            <a:avLst/>
          </a:prstGeom>
          <a:solidFill>
            <a:srgbClr val="161B22">
              <a:alpha val="80000"/>
            </a:srgbClr>
          </a:solidFill>
          <a:ln w="12700">
            <a:solidFill>
              <a:srgbClr val="3036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B0C488-2043-4D9B-A271-9E1CC95B50CE}"/>
              </a:ext>
            </a:extLst>
          </p:cNvPr>
          <p:cNvSpPr txBox="1"/>
          <p:nvPr/>
        </p:nvSpPr>
        <p:spPr>
          <a:xfrm>
            <a:off x="990600" y="5657850"/>
            <a:ext cx="3543300" cy="4699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Prometheus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8B949E"/>
                </a:solidFill>
              </a:rPr>
              <a:t>metrics scraping + alert rules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26864D-73E8-42AF-B118-67FE115DBCD3}"/>
              </a:ext>
            </a:extLst>
          </p:cNvPr>
          <p:cNvSpPr txBox="1"/>
          <p:nvPr/>
        </p:nvSpPr>
        <p:spPr>
          <a:xfrm>
            <a:off x="5219700" y="5657850"/>
            <a:ext cx="3543300" cy="4699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EDF3"/>
                </a:solidFill>
              </a:rPr>
              <a:t>Grafana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8B949E"/>
                </a:solidFill>
              </a:rPr>
              <a:t>dashboards +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A60FD26-7192-40AA-BA46-FDD05DEDA449}"/>
              </a:ext>
            </a:extLst>
          </p:cNvPr>
          <p:cNvSpPr txBox="1"/>
          <p:nvPr/>
        </p:nvSpPr>
        <p:spPr>
          <a:xfrm>
            <a:off x="2286000" y="1047750"/>
            <a:ext cx="7620000" cy="822960"/>
          </a:xfrm>
        </p:spPr>
        <p:txBody>
          <a:bodyPr wrap="square" rtlCol="0" lIns="0" tIns="0" rIns="0" bIns="0" anchor="t"/>
          <a:lstStyle/>
          <a:p>
            <a:pPr algn="ctr"/>
            <a:r>
              <a:rPr sz="5400" b="1">
                <a:solidFill>
                  <a:srgbClr val="E6EDF3"/>
                </a:solidFill>
              </a:rPr>
              <a:t>Thank you.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C28EEF-D034-442E-9D63-7E8E89BD29D3}"/>
              </a:ext>
            </a:extLst>
          </p:cNvPr>
          <p:cNvSpPr txBox="1"/>
          <p:nvPr/>
        </p:nvSpPr>
        <p:spPr>
          <a:xfrm>
            <a:off x="2286000" y="2038350"/>
            <a:ext cx="76200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600">
                <a:solidFill>
                  <a:srgbClr val="C9D1D9"/>
                </a:solidFill>
              </a:rPr>
              <a:t>Live demo: register an asset → log a CRITICAL finding → hit a 403 as viewer → watch Grafana move.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B3BEA78-08F6-4A64-B71E-C11054A9EF4E}"/>
              </a:ext>
            </a:extLst>
          </p:cNvPr>
          <p:cNvSpPr/>
          <p:nvPr/>
        </p:nvSpPr>
        <p:spPr>
          <a:xfrm>
            <a:off x="762000" y="3143250"/>
            <a:ext cx="19812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1 · Create asset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1B93D89-165D-43E0-B8A9-EE11336E1590}"/>
              </a:ext>
            </a:extLst>
          </p:cNvPr>
          <p:cNvSpPr/>
          <p:nvPr/>
        </p:nvSpPr>
        <p:spPr>
          <a:xfrm>
            <a:off x="2952750" y="3143250"/>
            <a:ext cx="19812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2 · Log finding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1BE979D-1778-4C45-B614-5DF2174EE45E}"/>
              </a:ext>
            </a:extLst>
          </p:cNvPr>
          <p:cNvSpPr/>
          <p:nvPr/>
        </p:nvSpPr>
        <p:spPr>
          <a:xfrm>
            <a:off x="5143500" y="3143250"/>
            <a:ext cx="19812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3 · Switch role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EAF3B39-C0F3-4143-9B61-9E3E0944E5BA}"/>
              </a:ext>
            </a:extLst>
          </p:cNvPr>
          <p:cNvSpPr/>
          <p:nvPr/>
        </p:nvSpPr>
        <p:spPr>
          <a:xfrm>
            <a:off x="7334250" y="3143250"/>
            <a:ext cx="19812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5484D"/>
                </a:solidFill>
              </a:rPr>
              <a:t>4 · Verify 403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E48361D-0F69-4ADD-9368-1F745240F1F2}"/>
              </a:ext>
            </a:extLst>
          </p:cNvPr>
          <p:cNvSpPr/>
          <p:nvPr/>
        </p:nvSpPr>
        <p:spPr>
          <a:xfrm>
            <a:off x="9525000" y="3143250"/>
            <a:ext cx="1981200" cy="857250"/>
          </a:xfrm>
          <a:prstGeom prst="chevron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57D9A3"/>
                </a:solidFill>
              </a:rPr>
              <a:t>5 · See metrics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87D5203-2B76-4FA8-AEC4-56AA30AC5226}"/>
              </a:ext>
            </a:extLst>
          </p:cNvPr>
          <p:cNvSpPr txBox="1"/>
          <p:nvPr/>
        </p:nvSpPr>
        <p:spPr>
          <a:xfrm>
            <a:off x="2286000" y="5715000"/>
            <a:ext cx="7620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400">
                <a:solidFill>
                  <a:srgbClr val="8B949E"/>
                </a:solidFill>
              </a:rPr>
              <a:t>VulnTrack · DevOps Capstone · October 2026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